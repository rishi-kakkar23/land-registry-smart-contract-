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40" r:id="rId10"/>
    <p:sldId id="339" r:id="rId11"/>
    <p:sldId id="346" r:id="rId12"/>
    <p:sldId id="341" r:id="rId13"/>
    <p:sldId id="343" r:id="rId14"/>
    <p:sldId id="344" r:id="rId15"/>
    <p:sldId id="345"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384" y="4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2/3/2025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2/3/2025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2/3/2025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2/3/2025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2/3/2025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Rishi-Kakkar23/Land-Registry-Smart-Contrac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Rishi-Kakkar23/Land-Registry-Smart-Contrac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Rishi-Kakkar23/Land-Registry-Smart-Contrac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784113" y="4141999"/>
            <a:ext cx="3928848" cy="861497"/>
          </a:xfrm>
        </p:spPr>
        <p:txBody>
          <a:bodyPr>
            <a:normAutofit fontScale="85000" lnSpcReduction="10000"/>
          </a:bodyPr>
          <a:lstStyle/>
          <a:p>
            <a:pPr algn="r"/>
            <a:r>
              <a:rPr lang="en-IN" b="0" dirty="0">
                <a:solidFill>
                  <a:schemeClr val="tx1"/>
                </a:solidFill>
              </a:rPr>
              <a:t>Presented by Rishi Kakkar</a:t>
            </a:r>
          </a:p>
          <a:p>
            <a:pPr algn="r"/>
            <a:r>
              <a:rPr lang="en-IN" b="0" dirty="0">
                <a:solidFill>
                  <a:schemeClr val="tx1"/>
                </a:solidFill>
              </a:rPr>
              <a:t>Uttaranchal University| </a:t>
            </a:r>
            <a:r>
              <a:rPr lang="en-IN" b="0" dirty="0" err="1">
                <a:solidFill>
                  <a:schemeClr val="tx1"/>
                </a:solidFill>
              </a:rPr>
              <a:t>B.Com</a:t>
            </a:r>
            <a:r>
              <a:rPr lang="en-IN" b="0" dirty="0">
                <a:solidFill>
                  <a:schemeClr val="tx1"/>
                </a:solidFill>
              </a:rPr>
              <a:t> (Hons.)</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236535" y="2050553"/>
            <a:ext cx="6075056" cy="743448"/>
          </a:xfrm>
        </p:spPr>
        <p:txBody>
          <a:bodyPr>
            <a:normAutofit fontScale="90000"/>
          </a:bodyPr>
          <a:lstStyle/>
          <a:p>
            <a:r>
              <a:rPr lang="en-IN" sz="3200" dirty="0"/>
              <a:t>Land Registry Smart Contract</a:t>
            </a:r>
            <a:br>
              <a:rPr lang="en-IN" sz="3200" dirty="0"/>
            </a:br>
            <a:r>
              <a:rPr lang="en-IN" sz="3200" dirty="0"/>
              <a:t>(Blockchain Based)</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280935" y="1746380"/>
            <a:ext cx="8873697" cy="4319687"/>
          </a:xfrm>
        </p:spPr>
        <p:txBody>
          <a:bodyPr/>
          <a:lstStyle/>
          <a:p>
            <a:pPr>
              <a:lnSpc>
                <a:spcPct val="150000"/>
              </a:lnSpc>
            </a:pPr>
            <a:r>
              <a:rPr lang="en-IN" sz="2800" dirty="0"/>
              <a:t>Corruption, Fraud and Inefficiencies in traditional land records</a:t>
            </a:r>
          </a:p>
          <a:p>
            <a:pPr>
              <a:lnSpc>
                <a:spcPct val="150000"/>
              </a:lnSpc>
            </a:pPr>
            <a:r>
              <a:rPr lang="en-IN" sz="2800" dirty="0"/>
              <a:t>Fake Documents, Illegal Transfers &amp; Bureaucratic Delays</a:t>
            </a:r>
          </a:p>
          <a:p>
            <a:pPr>
              <a:lnSpc>
                <a:spcPct val="150000"/>
              </a:lnSpc>
            </a:pPr>
            <a:r>
              <a:rPr lang="en-IN" sz="2800" dirty="0"/>
              <a:t>Middlemen Increase Transaction Costs &amp; Reduce </a:t>
            </a:r>
            <a:r>
              <a:rPr lang="en-IN" sz="2800" dirty="0" err="1"/>
              <a:t>Transperancy</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8967010" cy="830997"/>
          </a:xfrm>
        </p:spPr>
        <p:txBody>
          <a:bodyPr>
            <a:noAutofit/>
          </a:bodyPr>
          <a:lstStyle/>
          <a:p>
            <a:r>
              <a:rPr lang="en-GB" sz="4400" dirty="0"/>
              <a:t>Blockchain-Based Land Registry Smart Contract</a:t>
            </a:r>
            <a:br>
              <a:rPr lang="en-GB" sz="900" dirty="0"/>
            </a:br>
            <a:br>
              <a:rPr lang="en-GB" sz="2000" dirty="0"/>
            </a:br>
            <a:r>
              <a:rPr lang="en-US" sz="2000" b="0" dirty="0"/>
              <a:t>The Blockchain-Based Land Registry Smart Contract seeks to transform the conventional land registration process by leveraging blockchain technology to create a secure, transparent, and tamper-proof system for managing property ownership. This innovative solution introduces a streamlined approach to registering, transferring, and verifying land ownership through the use of smart contracts. By doing so, it addresses and eliminates many of the persistent problems associated with traditional systems, including fraud, corruption, and inefficiencies, paving the way for a more reliable and efficient land management framework.</a:t>
            </a:r>
            <a:endParaRPr lang="en-IN" sz="20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315208" y="1197930"/>
            <a:ext cx="9400292" cy="5431789"/>
          </a:xfrm>
        </p:spPr>
        <p:txBody>
          <a:bodyPr>
            <a:normAutofit fontScale="40000" lnSpcReduction="20000"/>
          </a:bodyPr>
          <a:lstStyle/>
          <a:p>
            <a:pPr algn="just">
              <a:lnSpc>
                <a:spcPct val="150000"/>
              </a:lnSpc>
            </a:pPr>
            <a:r>
              <a:rPr lang="en-US" sz="3600" dirty="0"/>
              <a:t>1. </a:t>
            </a:r>
            <a:r>
              <a:rPr lang="en-US" sz="3600" b="1" dirty="0"/>
              <a:t>Landowners</a:t>
            </a:r>
            <a:r>
              <a:rPr lang="en-US" sz="3600" dirty="0"/>
              <a:t>:     </a:t>
            </a:r>
          </a:p>
          <a:p>
            <a:pPr algn="just">
              <a:lnSpc>
                <a:spcPct val="150000"/>
              </a:lnSpc>
            </a:pPr>
            <a:r>
              <a:rPr lang="en-US" sz="3600" dirty="0"/>
              <a:t>- Secure and transparent system for managing and transferring ownership.     </a:t>
            </a:r>
          </a:p>
          <a:p>
            <a:pPr algn="just">
              <a:lnSpc>
                <a:spcPct val="150000"/>
              </a:lnSpc>
            </a:pPr>
            <a:r>
              <a:rPr lang="en-US" sz="3600" dirty="0"/>
              <a:t>- Eliminates concerns about fraud or document falsification.  </a:t>
            </a:r>
          </a:p>
          <a:p>
            <a:pPr algn="just">
              <a:lnSpc>
                <a:spcPct val="150000"/>
              </a:lnSpc>
            </a:pPr>
            <a:r>
              <a:rPr lang="en-US" sz="3600" dirty="0"/>
              <a:t>2. </a:t>
            </a:r>
            <a:r>
              <a:rPr lang="en-US" sz="3600" b="1" dirty="0"/>
              <a:t>Buyers</a:t>
            </a:r>
            <a:r>
              <a:rPr lang="en-US" sz="3600" dirty="0"/>
              <a:t>:     </a:t>
            </a:r>
          </a:p>
          <a:p>
            <a:pPr algn="just">
              <a:lnSpc>
                <a:spcPct val="150000"/>
              </a:lnSpc>
            </a:pPr>
            <a:r>
              <a:rPr lang="en-US" sz="3600" dirty="0"/>
              <a:t>- Assurance of genuine land availability for sale.     </a:t>
            </a:r>
          </a:p>
          <a:p>
            <a:pPr algn="just">
              <a:lnSpc>
                <a:spcPct val="150000"/>
              </a:lnSpc>
            </a:pPr>
            <a:r>
              <a:rPr lang="en-US" sz="3600" dirty="0"/>
              <a:t>- Transparent and easily verifiable ownership history.  </a:t>
            </a:r>
          </a:p>
          <a:p>
            <a:pPr algn="just">
              <a:lnSpc>
                <a:spcPct val="150000"/>
              </a:lnSpc>
            </a:pPr>
            <a:r>
              <a:rPr lang="en-US" sz="3600" dirty="0"/>
              <a:t>3. </a:t>
            </a:r>
            <a:r>
              <a:rPr lang="en-US" sz="3600" b="1" dirty="0"/>
              <a:t>Government &amp; Legal Bodies</a:t>
            </a:r>
            <a:r>
              <a:rPr lang="en-US" sz="3600" dirty="0"/>
              <a:t>:     </a:t>
            </a:r>
          </a:p>
          <a:p>
            <a:pPr algn="just">
              <a:lnSpc>
                <a:spcPct val="150000"/>
              </a:lnSpc>
            </a:pPr>
            <a:r>
              <a:rPr lang="en-US" sz="3600" dirty="0"/>
              <a:t>- Reduces corruption, fraud, and inefficiency in land transactions.     </a:t>
            </a:r>
          </a:p>
          <a:p>
            <a:pPr algn="just">
              <a:lnSpc>
                <a:spcPct val="150000"/>
              </a:lnSpc>
            </a:pPr>
            <a:r>
              <a:rPr lang="en-US" sz="3600" dirty="0"/>
              <a:t>- Ensures compliance with legal and regulatory processes.  </a:t>
            </a:r>
          </a:p>
          <a:p>
            <a:pPr algn="just">
              <a:lnSpc>
                <a:spcPct val="150000"/>
              </a:lnSpc>
            </a:pPr>
            <a:r>
              <a:rPr lang="en-US" sz="3600" dirty="0"/>
              <a:t>4. </a:t>
            </a:r>
            <a:r>
              <a:rPr lang="en-US" sz="3600" b="1" dirty="0"/>
              <a:t>Banks &amp; Financial Institutions</a:t>
            </a:r>
            <a:r>
              <a:rPr lang="en-US" sz="3600" dirty="0"/>
              <a:t>:    </a:t>
            </a:r>
          </a:p>
          <a:p>
            <a:pPr algn="just">
              <a:lnSpc>
                <a:spcPct val="150000"/>
              </a:lnSpc>
            </a:pPr>
            <a:r>
              <a:rPr lang="en-US" sz="3600" dirty="0"/>
              <a:t> - Clear verification of land ownership records.    </a:t>
            </a:r>
          </a:p>
          <a:p>
            <a:pPr algn="just">
              <a:lnSpc>
                <a:spcPct val="150000"/>
              </a:lnSpc>
            </a:pPr>
            <a:r>
              <a:rPr lang="en-US" sz="3600" dirty="0"/>
              <a:t>- Enables secure lending and financing.</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569208" y="428149"/>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11877582" cy="6428740"/>
          </a:xfrm>
        </p:spPr>
        <p:txBody>
          <a:bodyPr/>
          <a:lstStyle/>
          <a:p>
            <a:pPr lvl="1">
              <a:lnSpc>
                <a:spcPct val="150000"/>
              </a:lnSpc>
            </a:pPr>
            <a:r>
              <a:rPr lang="en-IN" b="1" dirty="0"/>
              <a:t>Solidity</a:t>
            </a:r>
            <a:r>
              <a:rPr lang="en-IN" dirty="0"/>
              <a:t> – Smart contract programming language.</a:t>
            </a:r>
          </a:p>
          <a:p>
            <a:pPr lvl="1">
              <a:lnSpc>
                <a:spcPct val="150000"/>
              </a:lnSpc>
            </a:pPr>
            <a:r>
              <a:rPr lang="en-IN" dirty="0"/>
              <a:t> </a:t>
            </a:r>
            <a:r>
              <a:rPr lang="en-IN" b="1" dirty="0"/>
              <a:t>Remix</a:t>
            </a:r>
            <a:r>
              <a:rPr lang="en-IN" dirty="0"/>
              <a:t> </a:t>
            </a:r>
            <a:r>
              <a:rPr lang="en-IN" b="1" dirty="0"/>
              <a:t>IDE</a:t>
            </a:r>
            <a:r>
              <a:rPr lang="en-IN" dirty="0"/>
              <a:t> –Web-based Ethereum development environment.</a:t>
            </a:r>
          </a:p>
          <a:p>
            <a:pPr lvl="1">
              <a:lnSpc>
                <a:spcPct val="150000"/>
              </a:lnSpc>
            </a:pPr>
            <a:r>
              <a:rPr lang="en-IN" dirty="0"/>
              <a:t> </a:t>
            </a:r>
            <a:r>
              <a:rPr lang="en-IN" b="1" dirty="0"/>
              <a:t>MetaMask</a:t>
            </a:r>
            <a:r>
              <a:rPr lang="en-IN" dirty="0"/>
              <a:t> – Crypto wallet for contract interaction.</a:t>
            </a:r>
          </a:p>
          <a:p>
            <a:pPr lvl="1">
              <a:lnSpc>
                <a:spcPct val="150000"/>
              </a:lnSpc>
            </a:pPr>
            <a:r>
              <a:rPr lang="en-IN" dirty="0"/>
              <a:t> </a:t>
            </a:r>
            <a:r>
              <a:rPr lang="en-IN" b="1" dirty="0"/>
              <a:t>Hardhat</a:t>
            </a:r>
            <a:r>
              <a:rPr lang="en-IN" dirty="0"/>
              <a:t>/</a:t>
            </a:r>
            <a:r>
              <a:rPr lang="en-IN" b="1" dirty="0"/>
              <a:t>Truffle</a:t>
            </a:r>
            <a:r>
              <a:rPr lang="en-IN" dirty="0"/>
              <a:t> –Testing and deploying contracts in VS Code.</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E70F8-A519-BE40-4D70-4E83403D3D1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A1B381A-114E-19CE-A660-C2D2F27C098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E9AF133-D959-CE26-2050-121B5702F76C}"/>
              </a:ext>
            </a:extLst>
          </p:cNvPr>
          <p:cNvSpPr>
            <a:spLocks noGrp="1"/>
          </p:cNvSpPr>
          <p:nvPr>
            <p:ph type="title"/>
          </p:nvPr>
        </p:nvSpPr>
        <p:spPr>
          <a:xfrm>
            <a:off x="1269" y="113465"/>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60A17E2-BFAB-72FD-C625-A1792C6A4F6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9B0507C-487C-DB95-27CA-7AD5B185EFB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21F06D07-A492-718D-CF83-8953157D9661}"/>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07A37AB2-2D9F-BFD2-BB36-9DBE9DECC49C}"/>
              </a:ext>
            </a:extLst>
          </p:cNvPr>
          <p:cNvSpPr>
            <a:spLocks noGrp="1"/>
          </p:cNvSpPr>
          <p:nvPr>
            <p:ph type="body" sz="quarter" idx="12"/>
          </p:nvPr>
        </p:nvSpPr>
        <p:spPr>
          <a:xfrm>
            <a:off x="2819082" y="1727199"/>
            <a:ext cx="2263220" cy="182013"/>
          </a:xfrm>
        </p:spPr>
        <p:txBody>
          <a:bodyPr>
            <a:normAutofit fontScale="32500" lnSpcReduction="20000"/>
          </a:bodyPr>
          <a:lstStyle/>
          <a:p>
            <a:pPr marL="0" indent="0">
              <a:buNone/>
            </a:pPr>
            <a:endParaRPr lang="en-IN" dirty="0"/>
          </a:p>
        </p:txBody>
      </p:sp>
      <p:pic>
        <p:nvPicPr>
          <p:cNvPr id="3" name="Picture 2">
            <a:extLst>
              <a:ext uri="{FF2B5EF4-FFF2-40B4-BE49-F238E27FC236}">
                <a16:creationId xmlns:a16="http://schemas.microsoft.com/office/drawing/2014/main" id="{16CC52BA-382A-2989-33CB-497FEB56557B}"/>
              </a:ext>
            </a:extLst>
          </p:cNvPr>
          <p:cNvPicPr>
            <a:picLocks noChangeAspect="1"/>
          </p:cNvPicPr>
          <p:nvPr/>
        </p:nvPicPr>
        <p:blipFill>
          <a:blip r:embed="rId4"/>
          <a:stretch>
            <a:fillRect/>
          </a:stretch>
        </p:blipFill>
        <p:spPr>
          <a:xfrm>
            <a:off x="2421841" y="751651"/>
            <a:ext cx="9770159" cy="6106349"/>
          </a:xfrm>
          <a:prstGeom prst="rect">
            <a:avLst/>
          </a:prstGeom>
        </p:spPr>
      </p:pic>
    </p:spTree>
    <p:extLst>
      <p:ext uri="{BB962C8B-B14F-4D97-AF65-F5344CB8AC3E}">
        <p14:creationId xmlns:p14="http://schemas.microsoft.com/office/powerpoint/2010/main" val="2630552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86032" y="119996"/>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3664543" y="1608410"/>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C499BBC-16C6-DA2D-1294-4DF072D5B94F}"/>
              </a:ext>
            </a:extLst>
          </p:cNvPr>
          <p:cNvPicPr>
            <a:picLocks noChangeAspect="1"/>
          </p:cNvPicPr>
          <p:nvPr/>
        </p:nvPicPr>
        <p:blipFill>
          <a:blip r:embed="rId4"/>
          <a:stretch>
            <a:fillRect/>
          </a:stretch>
        </p:blipFill>
        <p:spPr>
          <a:xfrm>
            <a:off x="1969386" y="803188"/>
            <a:ext cx="10136582" cy="593481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5EDD6-19D3-9D8A-B9E8-8A1BF748426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E205D89-7487-5D7F-7C41-944FD3EA628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CE1EF09-5480-F013-7B39-57B3C0EBFABD}"/>
              </a:ext>
            </a:extLst>
          </p:cNvPr>
          <p:cNvSpPr>
            <a:spLocks noGrp="1"/>
          </p:cNvSpPr>
          <p:nvPr>
            <p:ph type="title"/>
          </p:nvPr>
        </p:nvSpPr>
        <p:spPr>
          <a:xfrm>
            <a:off x="86032" y="119996"/>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F66396D-A6CB-AB49-CE9F-437FBDFD44D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29B1F47-F783-A1B2-373B-417C1CD82AE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F6850869-66E6-71B9-92F3-515B706CD24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82382F91-A687-888E-A276-105737EDAC79}"/>
              </a:ext>
            </a:extLst>
          </p:cNvPr>
          <p:cNvSpPr>
            <a:spLocks noGrp="1"/>
          </p:cNvSpPr>
          <p:nvPr>
            <p:ph type="body" sz="quarter" idx="12"/>
          </p:nvPr>
        </p:nvSpPr>
        <p:spPr>
          <a:xfrm>
            <a:off x="3664543" y="1608410"/>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22D82BDC-24B0-51DE-83F7-773B9CE94CE6}"/>
              </a:ext>
            </a:extLst>
          </p:cNvPr>
          <p:cNvPicPr>
            <a:picLocks noChangeAspect="1"/>
          </p:cNvPicPr>
          <p:nvPr/>
        </p:nvPicPr>
        <p:blipFill>
          <a:blip r:embed="rId4"/>
          <a:stretch>
            <a:fillRect/>
          </a:stretch>
        </p:blipFill>
        <p:spPr>
          <a:xfrm>
            <a:off x="1992762" y="957077"/>
            <a:ext cx="10123013" cy="5611363"/>
          </a:xfrm>
          <a:prstGeom prst="rect">
            <a:avLst/>
          </a:prstGeom>
        </p:spPr>
      </p:pic>
    </p:spTree>
    <p:extLst>
      <p:ext uri="{BB962C8B-B14F-4D97-AF65-F5344CB8AC3E}">
        <p14:creationId xmlns:p14="http://schemas.microsoft.com/office/powerpoint/2010/main" val="213971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2A6CB2-33D6-42DF-2FAB-FA5660066EF0}"/>
              </a:ext>
            </a:extLst>
          </p:cNvPr>
          <p:cNvSpPr>
            <a:spLocks noGrp="1"/>
          </p:cNvSpPr>
          <p:nvPr>
            <p:ph type="title"/>
          </p:nvPr>
        </p:nvSpPr>
        <p:spPr/>
        <p:txBody>
          <a:bodyPr/>
          <a:lstStyle/>
          <a:p>
            <a:r>
              <a:rPr lang="en-IN" dirty="0"/>
              <a:t>Demo: Running in Remix IDE</a:t>
            </a:r>
          </a:p>
        </p:txBody>
      </p:sp>
      <p:sp>
        <p:nvSpPr>
          <p:cNvPr id="15" name="Text Placeholder 14">
            <a:extLst>
              <a:ext uri="{FF2B5EF4-FFF2-40B4-BE49-F238E27FC236}">
                <a16:creationId xmlns:a16="http://schemas.microsoft.com/office/drawing/2014/main" id="{3067C066-1BB9-C9A8-DB1A-CFADDA25A4C5}"/>
              </a:ext>
            </a:extLst>
          </p:cNvPr>
          <p:cNvSpPr>
            <a:spLocks noGrp="1"/>
          </p:cNvSpPr>
          <p:nvPr>
            <p:ph type="body" sz="quarter" idx="18"/>
          </p:nvPr>
        </p:nvSpPr>
        <p:spPr>
          <a:xfrm>
            <a:off x="10769601" y="6330950"/>
            <a:ext cx="1136650" cy="45719"/>
          </a:xfrm>
        </p:spPr>
        <p:txBody>
          <a:bodyPr>
            <a:normAutofit fontScale="25000" lnSpcReduction="20000"/>
          </a:bodyPr>
          <a:lstStyle/>
          <a:p>
            <a:r>
              <a:rPr lang="en-IN" dirty="0"/>
              <a:t>.</a:t>
            </a:r>
          </a:p>
        </p:txBody>
      </p:sp>
      <p:sp>
        <p:nvSpPr>
          <p:cNvPr id="16" name="Text Placeholder 15">
            <a:extLst>
              <a:ext uri="{FF2B5EF4-FFF2-40B4-BE49-F238E27FC236}">
                <a16:creationId xmlns:a16="http://schemas.microsoft.com/office/drawing/2014/main" id="{9636002C-ED53-CACD-AF00-8A3F8FFD6614}"/>
              </a:ext>
            </a:extLst>
          </p:cNvPr>
          <p:cNvSpPr>
            <a:spLocks noGrp="1"/>
          </p:cNvSpPr>
          <p:nvPr>
            <p:ph type="body" sz="quarter" idx="19"/>
          </p:nvPr>
        </p:nvSpPr>
        <p:spPr>
          <a:xfrm>
            <a:off x="895350" y="1478281"/>
            <a:ext cx="8699500" cy="4852669"/>
          </a:xfrm>
        </p:spPr>
        <p:txBody>
          <a:bodyPr/>
          <a:lstStyle/>
          <a:p>
            <a:pPr marL="342900" indent="-342900" algn="l">
              <a:buFont typeface="+mj-lt"/>
              <a:buAutoNum type="arabicPeriod"/>
            </a:pPr>
            <a:r>
              <a:rPr lang="en-US" b="1" dirty="0"/>
              <a:t>Open Remix IDE </a:t>
            </a:r>
            <a:r>
              <a:rPr lang="en-US" dirty="0"/>
              <a:t>– Navigate to Remix IDE, an online Ethereum development environment. It provides a browser-based interface for writing, compiling, and deploying smart contracts.</a:t>
            </a:r>
          </a:p>
          <a:p>
            <a:pPr marL="342900" indent="-342900" algn="l">
              <a:buFont typeface="+mj-lt"/>
              <a:buAutoNum type="arabicPeriod"/>
            </a:pPr>
            <a:r>
              <a:rPr lang="en-US" b="1" dirty="0"/>
              <a:t>Copy and Paste the Solidity Contract </a:t>
            </a:r>
            <a:r>
              <a:rPr lang="en-US" dirty="0"/>
              <a:t>– Open a new Solidity file in Remix and paste the smart contract code. This contract will define the land registration and transfer functionalities.</a:t>
            </a:r>
          </a:p>
          <a:p>
            <a:pPr marL="342900" indent="-342900" algn="l">
              <a:buFont typeface="+mj-lt"/>
              <a:buAutoNum type="arabicPeriod"/>
            </a:pPr>
            <a:r>
              <a:rPr lang="en-US" b="1" dirty="0"/>
              <a:t>Compile and Deploy </a:t>
            </a:r>
            <a:r>
              <a:rPr lang="en-US" dirty="0"/>
              <a:t>– Use the Solidity compiler in Remix to compile the contract. Deploy it using Injected Web3 (MetaMask) for live networks or Ganache for a local blockchain simulation.</a:t>
            </a:r>
          </a:p>
          <a:p>
            <a:pPr marL="342900" indent="-342900" algn="l">
              <a:buFont typeface="+mj-lt"/>
              <a:buAutoNum type="arabicPeriod"/>
            </a:pPr>
            <a:r>
              <a:rPr lang="en-US" b="1" dirty="0"/>
              <a:t>Interact with Functions </a:t>
            </a:r>
            <a:r>
              <a:rPr lang="en-US" dirty="0"/>
              <a:t>– After deployment, interact with the contract by calling functions such as </a:t>
            </a:r>
            <a:r>
              <a:rPr lang="en-US" dirty="0" err="1"/>
              <a:t>registerLand</a:t>
            </a:r>
            <a:r>
              <a:rPr lang="en-US" dirty="0"/>
              <a:t>() to register property ownership and </a:t>
            </a:r>
            <a:r>
              <a:rPr lang="en-US" dirty="0" err="1"/>
              <a:t>transferOwnership</a:t>
            </a:r>
            <a:r>
              <a:rPr lang="en-US" dirty="0"/>
              <a:t>() to transfer land rights securely.</a:t>
            </a:r>
            <a:endParaRPr lang="en-IN" dirty="0"/>
          </a:p>
        </p:txBody>
      </p:sp>
    </p:spTree>
    <p:extLst>
      <p:ext uri="{BB962C8B-B14F-4D97-AF65-F5344CB8AC3E}">
        <p14:creationId xmlns:p14="http://schemas.microsoft.com/office/powerpoint/2010/main" val="2064492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E5D70-D111-153B-C9B4-3CFD08E941E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8B09C55-8A28-A795-E019-06B9DBFEBDFE}"/>
              </a:ext>
            </a:extLst>
          </p:cNvPr>
          <p:cNvSpPr>
            <a:spLocks noGrp="1"/>
          </p:cNvSpPr>
          <p:nvPr>
            <p:ph type="title"/>
          </p:nvPr>
        </p:nvSpPr>
        <p:spPr/>
        <p:txBody>
          <a:bodyPr/>
          <a:lstStyle/>
          <a:p>
            <a:r>
              <a:rPr lang="en-US" dirty="0"/>
              <a:t>Advantages of Blockchain Land Registry</a:t>
            </a:r>
            <a:endParaRPr lang="en-IN" dirty="0"/>
          </a:p>
        </p:txBody>
      </p:sp>
      <p:sp>
        <p:nvSpPr>
          <p:cNvPr id="15" name="Text Placeholder 14">
            <a:extLst>
              <a:ext uri="{FF2B5EF4-FFF2-40B4-BE49-F238E27FC236}">
                <a16:creationId xmlns:a16="http://schemas.microsoft.com/office/drawing/2014/main" id="{12F6C380-577E-8288-9856-E793E27FB987}"/>
              </a:ext>
            </a:extLst>
          </p:cNvPr>
          <p:cNvSpPr>
            <a:spLocks noGrp="1"/>
          </p:cNvSpPr>
          <p:nvPr>
            <p:ph type="body" sz="quarter" idx="18"/>
          </p:nvPr>
        </p:nvSpPr>
        <p:spPr>
          <a:xfrm>
            <a:off x="10769601" y="6330950"/>
            <a:ext cx="1136650" cy="45719"/>
          </a:xfrm>
        </p:spPr>
        <p:txBody>
          <a:bodyPr>
            <a:normAutofit fontScale="25000" lnSpcReduction="20000"/>
          </a:bodyPr>
          <a:lstStyle/>
          <a:p>
            <a:r>
              <a:rPr lang="en-IN" dirty="0"/>
              <a:t>.</a:t>
            </a:r>
          </a:p>
        </p:txBody>
      </p:sp>
      <p:sp>
        <p:nvSpPr>
          <p:cNvPr id="16" name="Text Placeholder 15">
            <a:extLst>
              <a:ext uri="{FF2B5EF4-FFF2-40B4-BE49-F238E27FC236}">
                <a16:creationId xmlns:a16="http://schemas.microsoft.com/office/drawing/2014/main" id="{E7125D76-06C8-0D7D-392E-AF27C1146946}"/>
              </a:ext>
            </a:extLst>
          </p:cNvPr>
          <p:cNvSpPr>
            <a:spLocks noGrp="1"/>
          </p:cNvSpPr>
          <p:nvPr>
            <p:ph type="body" sz="quarter" idx="19"/>
          </p:nvPr>
        </p:nvSpPr>
        <p:spPr>
          <a:xfrm>
            <a:off x="996950" y="1523999"/>
            <a:ext cx="8699500" cy="4852669"/>
          </a:xfrm>
        </p:spPr>
        <p:txBody>
          <a:bodyPr/>
          <a:lstStyle/>
          <a:p>
            <a:pPr marL="342900" indent="-342900" algn="l">
              <a:buFont typeface="+mj-lt"/>
              <a:buAutoNum type="arabicPeriod"/>
            </a:pPr>
            <a:r>
              <a:rPr lang="en-US" b="1" dirty="0"/>
              <a:t>No Paperwork </a:t>
            </a:r>
            <a:r>
              <a:rPr lang="en-US" dirty="0"/>
              <a:t>– Blockchain digitizes land records, eliminating the need for physical paperwork. This reduces administrative costs and human errors in documentation.</a:t>
            </a:r>
          </a:p>
          <a:p>
            <a:pPr marL="342900" indent="-342900" algn="l">
              <a:buFont typeface="+mj-lt"/>
              <a:buAutoNum type="arabicPeriod"/>
            </a:pPr>
            <a:r>
              <a:rPr lang="en-US" b="1" dirty="0"/>
              <a:t>Tamper-Proof </a:t>
            </a:r>
            <a:r>
              <a:rPr lang="en-US" dirty="0"/>
              <a:t>– Ownership records stored on a blockchain are immutable and cryptographically secured, preventing unauthorized alterations or fraudulent claims.</a:t>
            </a:r>
          </a:p>
          <a:p>
            <a:pPr marL="342900" indent="-342900" algn="l">
              <a:buFont typeface="+mj-lt"/>
              <a:buAutoNum type="arabicPeriod"/>
            </a:pPr>
            <a:r>
              <a:rPr lang="en-US" b="1" dirty="0"/>
              <a:t>Cost-Effective</a:t>
            </a:r>
            <a:r>
              <a:rPr lang="en-US" dirty="0"/>
              <a:t> – Traditional land transactions involve multiple intermediaries (lawyers, brokers, government officials), increasing costs. Blockchain automates these processes, reducing fees.</a:t>
            </a:r>
          </a:p>
          <a:p>
            <a:pPr marL="342900" indent="-342900" algn="l">
              <a:buFont typeface="+mj-lt"/>
              <a:buAutoNum type="arabicPeriod"/>
            </a:pPr>
            <a:r>
              <a:rPr lang="en-US" b="1" dirty="0"/>
              <a:t>Fast Transactions </a:t>
            </a:r>
            <a:r>
              <a:rPr lang="en-US" dirty="0"/>
              <a:t>– Land transfers that usually take weeks due to bureaucracy can be completed in minutes using smart contracts, ensuring instant and transparent ownership changes.</a:t>
            </a:r>
            <a:endParaRPr lang="en-IN" dirty="0"/>
          </a:p>
        </p:txBody>
      </p:sp>
    </p:spTree>
    <p:extLst>
      <p:ext uri="{BB962C8B-B14F-4D97-AF65-F5344CB8AC3E}">
        <p14:creationId xmlns:p14="http://schemas.microsoft.com/office/powerpoint/2010/main" val="1046289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59D16-6965-E1EF-A21F-648853909FC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153D5FB-292E-3EC0-7BD6-5E8BE8F792F7}"/>
              </a:ext>
            </a:extLst>
          </p:cNvPr>
          <p:cNvSpPr>
            <a:spLocks noGrp="1"/>
          </p:cNvSpPr>
          <p:nvPr>
            <p:ph type="title"/>
          </p:nvPr>
        </p:nvSpPr>
        <p:spPr/>
        <p:txBody>
          <a:bodyPr/>
          <a:lstStyle/>
          <a:p>
            <a:r>
              <a:rPr lang="en-US" dirty="0"/>
              <a:t>Future Scope</a:t>
            </a:r>
            <a:endParaRPr lang="en-IN" dirty="0"/>
          </a:p>
        </p:txBody>
      </p:sp>
      <p:sp>
        <p:nvSpPr>
          <p:cNvPr id="15" name="Text Placeholder 14">
            <a:extLst>
              <a:ext uri="{FF2B5EF4-FFF2-40B4-BE49-F238E27FC236}">
                <a16:creationId xmlns:a16="http://schemas.microsoft.com/office/drawing/2014/main" id="{266285A2-01F6-01D2-77E9-6F835F5BD65A}"/>
              </a:ext>
            </a:extLst>
          </p:cNvPr>
          <p:cNvSpPr>
            <a:spLocks noGrp="1"/>
          </p:cNvSpPr>
          <p:nvPr>
            <p:ph type="body" sz="quarter" idx="18"/>
          </p:nvPr>
        </p:nvSpPr>
        <p:spPr>
          <a:xfrm>
            <a:off x="10769601" y="6330950"/>
            <a:ext cx="1136650" cy="45719"/>
          </a:xfrm>
        </p:spPr>
        <p:txBody>
          <a:bodyPr>
            <a:normAutofit fontScale="25000" lnSpcReduction="20000"/>
          </a:bodyPr>
          <a:lstStyle/>
          <a:p>
            <a:r>
              <a:rPr lang="en-IN" dirty="0"/>
              <a:t>.</a:t>
            </a:r>
          </a:p>
        </p:txBody>
      </p:sp>
      <p:sp>
        <p:nvSpPr>
          <p:cNvPr id="16" name="Text Placeholder 15">
            <a:extLst>
              <a:ext uri="{FF2B5EF4-FFF2-40B4-BE49-F238E27FC236}">
                <a16:creationId xmlns:a16="http://schemas.microsoft.com/office/drawing/2014/main" id="{4B95CAD6-070A-8DC7-6E01-1CA2DEEA7870}"/>
              </a:ext>
            </a:extLst>
          </p:cNvPr>
          <p:cNvSpPr>
            <a:spLocks noGrp="1"/>
          </p:cNvSpPr>
          <p:nvPr>
            <p:ph type="body" sz="quarter" idx="19"/>
          </p:nvPr>
        </p:nvSpPr>
        <p:spPr>
          <a:xfrm>
            <a:off x="996950" y="1523999"/>
            <a:ext cx="8699500" cy="4852669"/>
          </a:xfrm>
        </p:spPr>
        <p:txBody>
          <a:bodyPr/>
          <a:lstStyle/>
          <a:p>
            <a:pPr marL="342900" indent="-342900" algn="l">
              <a:buFont typeface="+mj-lt"/>
              <a:buAutoNum type="arabicPeriod"/>
            </a:pPr>
            <a:r>
              <a:rPr lang="en-US" b="1" dirty="0"/>
              <a:t>Government Adoption </a:t>
            </a:r>
            <a:r>
              <a:rPr lang="en-US" dirty="0"/>
              <a:t>– Governments worldwide can integrate blockchain into national land registries, ensuring transparency and reducing land disputes caused by manual record-keeping.</a:t>
            </a:r>
          </a:p>
          <a:p>
            <a:pPr marL="342900" indent="-342900" algn="l">
              <a:buFont typeface="+mj-lt"/>
              <a:buAutoNum type="arabicPeriod"/>
            </a:pPr>
            <a:r>
              <a:rPr lang="en-US" b="1" dirty="0"/>
              <a:t>NFT-based Land Ownership </a:t>
            </a:r>
            <a:r>
              <a:rPr lang="en-US" dirty="0"/>
              <a:t>– Real estate can be tokenized as Non-Fungible Tokens (NFTs), allowing for digital proof of ownership and seamless transactions across blockchain networks.</a:t>
            </a:r>
          </a:p>
          <a:p>
            <a:pPr marL="342900" indent="-342900" algn="l">
              <a:buFont typeface="+mj-lt"/>
              <a:buAutoNum type="arabicPeriod"/>
            </a:pPr>
            <a:r>
              <a:rPr lang="en-US" b="1" dirty="0"/>
              <a:t>AI-powered Fraud Detection </a:t>
            </a:r>
            <a:r>
              <a:rPr lang="en-US" dirty="0"/>
              <a:t>– Artificial Intelligence (AI) can analyze land records to detect duplicate or fraudulent entries, ensuring a more secure and reliable registry system.</a:t>
            </a:r>
          </a:p>
          <a:p>
            <a:pPr marL="342900" indent="-342900" algn="l">
              <a:buFont typeface="+mj-lt"/>
              <a:buAutoNum type="arabicPeriod"/>
            </a:pPr>
            <a:r>
              <a:rPr lang="en-US" b="1" dirty="0"/>
              <a:t>Interoperability </a:t>
            </a:r>
            <a:r>
              <a:rPr lang="en-US" dirty="0"/>
              <a:t>– Blockchain-based land registries can be linked with Decentralized Finance (DeFi) and mortgage platforms, enabling seamless integration of land ownership with financial services like loans and collateralization.</a:t>
            </a:r>
            <a:endParaRPr lang="en-IN" dirty="0"/>
          </a:p>
        </p:txBody>
      </p:sp>
    </p:spTree>
    <p:extLst>
      <p:ext uri="{BB962C8B-B14F-4D97-AF65-F5344CB8AC3E}">
        <p14:creationId xmlns:p14="http://schemas.microsoft.com/office/powerpoint/2010/main" val="401916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EF9C7-3CD2-AF1C-D93B-9B48B7F80AA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23E7D39-DD91-9872-6729-C71C63828704}"/>
              </a:ext>
            </a:extLst>
          </p:cNvPr>
          <p:cNvSpPr>
            <a:spLocks noGrp="1"/>
          </p:cNvSpPr>
          <p:nvPr>
            <p:ph type="title"/>
          </p:nvPr>
        </p:nvSpPr>
        <p:spPr/>
        <p:txBody>
          <a:bodyPr/>
          <a:lstStyle/>
          <a:p>
            <a:r>
              <a:rPr lang="en-US" dirty="0"/>
              <a:t>Conclusion</a:t>
            </a:r>
            <a:endParaRPr lang="en-IN" dirty="0"/>
          </a:p>
        </p:txBody>
      </p:sp>
      <p:sp>
        <p:nvSpPr>
          <p:cNvPr id="15" name="Text Placeholder 14">
            <a:extLst>
              <a:ext uri="{FF2B5EF4-FFF2-40B4-BE49-F238E27FC236}">
                <a16:creationId xmlns:a16="http://schemas.microsoft.com/office/drawing/2014/main" id="{2F052CA2-0E24-D106-3C82-EA556406B497}"/>
              </a:ext>
            </a:extLst>
          </p:cNvPr>
          <p:cNvSpPr>
            <a:spLocks noGrp="1"/>
          </p:cNvSpPr>
          <p:nvPr>
            <p:ph type="body" sz="quarter" idx="18"/>
          </p:nvPr>
        </p:nvSpPr>
        <p:spPr>
          <a:xfrm>
            <a:off x="10769601" y="6330950"/>
            <a:ext cx="1136650" cy="45719"/>
          </a:xfrm>
        </p:spPr>
        <p:txBody>
          <a:bodyPr>
            <a:normAutofit fontScale="25000" lnSpcReduction="20000"/>
          </a:bodyPr>
          <a:lstStyle/>
          <a:p>
            <a:r>
              <a:rPr lang="en-IN" dirty="0"/>
              <a:t>.</a:t>
            </a:r>
          </a:p>
        </p:txBody>
      </p:sp>
      <p:sp>
        <p:nvSpPr>
          <p:cNvPr id="16" name="Text Placeholder 15">
            <a:extLst>
              <a:ext uri="{FF2B5EF4-FFF2-40B4-BE49-F238E27FC236}">
                <a16:creationId xmlns:a16="http://schemas.microsoft.com/office/drawing/2014/main" id="{296114F2-9174-E488-E2F1-0ACA6FF5325F}"/>
              </a:ext>
            </a:extLst>
          </p:cNvPr>
          <p:cNvSpPr>
            <a:spLocks noGrp="1"/>
          </p:cNvSpPr>
          <p:nvPr>
            <p:ph type="body" sz="quarter" idx="19"/>
          </p:nvPr>
        </p:nvSpPr>
        <p:spPr>
          <a:xfrm>
            <a:off x="996950" y="1523999"/>
            <a:ext cx="8699500" cy="4852669"/>
          </a:xfrm>
        </p:spPr>
        <p:txBody>
          <a:bodyPr/>
          <a:lstStyle/>
          <a:p>
            <a:pPr marL="342900" indent="-342900" algn="l">
              <a:buFont typeface="+mj-lt"/>
              <a:buAutoNum type="arabicPeriod"/>
            </a:pPr>
            <a:r>
              <a:rPr lang="en-US" b="1" dirty="0"/>
              <a:t>Secure &amp; Transparent </a:t>
            </a:r>
            <a:r>
              <a:rPr lang="en-US" dirty="0"/>
              <a:t>– Blockchain-based land registry ensures tamper-proof and transparent transactions, reducing disputes and unauthorized alterations.</a:t>
            </a:r>
          </a:p>
          <a:p>
            <a:pPr marL="342900" indent="-342900" algn="l">
              <a:buFont typeface="+mj-lt"/>
              <a:buAutoNum type="arabicPeriod"/>
            </a:pPr>
            <a:r>
              <a:rPr lang="en-US" b="1" dirty="0"/>
              <a:t>Fraud Prevention &amp; Efficiency </a:t>
            </a:r>
            <a:r>
              <a:rPr lang="en-US" dirty="0"/>
              <a:t>– By eliminating fraud, inefficiencies, and middlemen, blockchain enhances trust and streamlines land ownership processes.</a:t>
            </a:r>
          </a:p>
          <a:p>
            <a:pPr marL="342900" indent="-342900" algn="l">
              <a:buFont typeface="+mj-lt"/>
              <a:buAutoNum type="arabicPeriod"/>
            </a:pPr>
            <a:r>
              <a:rPr lang="en-US" b="1" dirty="0"/>
              <a:t>Revolutionizing Real Estate </a:t>
            </a:r>
            <a:r>
              <a:rPr lang="en-US" dirty="0"/>
              <a:t>– A transformative step towards modernizing real estate transactions, making property dealings faster, safer, and more cost-effective with blockchain technology.</a:t>
            </a:r>
            <a:endParaRPr lang="en-IN" dirty="0"/>
          </a:p>
        </p:txBody>
      </p:sp>
    </p:spTree>
    <p:extLst>
      <p:ext uri="{BB962C8B-B14F-4D97-AF65-F5344CB8AC3E}">
        <p14:creationId xmlns:p14="http://schemas.microsoft.com/office/powerpoint/2010/main" val="887003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562585" y="2447635"/>
            <a:ext cx="5066829" cy="2141064"/>
          </a:xfrm>
        </p:spPr>
        <p:txBody>
          <a:bodyPr>
            <a:normAutofit/>
          </a:bodyPr>
          <a:lstStyle/>
          <a:p>
            <a:r>
              <a:rPr lang="en-IN" dirty="0"/>
              <a:t>Presented by : Rishi Kakkar</a:t>
            </a:r>
          </a:p>
          <a:p>
            <a:r>
              <a:rPr lang="en-IN" dirty="0"/>
              <a:t>Uttaranchal University| </a:t>
            </a:r>
            <a:r>
              <a:rPr lang="en-IN" dirty="0" err="1"/>
              <a:t>B.Com</a:t>
            </a:r>
            <a:r>
              <a:rPr lang="en-IN" dirty="0"/>
              <a:t>. (Hons.)</a:t>
            </a:r>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616</TotalTime>
  <Words>768</Words>
  <Application>Microsoft Office PowerPoint</Application>
  <PresentationFormat>Widescreen</PresentationFormat>
  <Paragraphs>63</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Trebuchet MS</vt:lpstr>
      <vt:lpstr>Wingdings</vt:lpstr>
      <vt:lpstr>Wingdings 3</vt:lpstr>
      <vt:lpstr>Facet</vt:lpstr>
      <vt:lpstr>Land Registry Smart Contract (Blockchain Based)</vt:lpstr>
      <vt:lpstr>PROBLEM  STATEMENT</vt:lpstr>
      <vt:lpstr>Blockchain-Based Land Registry Smart Contract  The Blockchain-Based Land Registry Smart Contract seeks to transform the conventional land registration process by leveraging blockchain technology to create a secure, transparent, and tamper-proof system for managing property ownership. This innovative solution introduces a streamlined approach to registering, transferring, and verifying land ownership through the use of smart contracts. By doing so, it addresses and eliminates many of the persistent problems associated with traditional systems, including fraud, corruption, and inefficiencies, paving the way for a more reliable and efficient land management framework.</vt:lpstr>
      <vt:lpstr>WHO ARE THE END USERS?</vt:lpstr>
      <vt:lpstr>Technology Used</vt:lpstr>
      <vt:lpstr>RESULTS </vt:lpstr>
      <vt:lpstr>RESULTS </vt:lpstr>
      <vt:lpstr>RESULTS </vt:lpstr>
      <vt:lpstr>Demo: Running in Remix IDE</vt:lpstr>
      <vt:lpstr>Advantages of Blockchain Land Registry</vt:lpstr>
      <vt:lpstr>Future Scope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Rishi Kakkar</cp:lastModifiedBy>
  <cp:revision>75</cp:revision>
  <dcterms:created xsi:type="dcterms:W3CDTF">2021-07-11T13:13:15Z</dcterms:created>
  <dcterms:modified xsi:type="dcterms:W3CDTF">2025-02-03T14:28:36Z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